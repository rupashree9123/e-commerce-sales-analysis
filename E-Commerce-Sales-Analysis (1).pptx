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ublic Sans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Sora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61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2161810"/>
            <a:ext cx="776585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6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E-Commerce Sales Analysis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F8EE2-148B-B4FC-5960-C3C8BC6B07F7}"/>
              </a:ext>
            </a:extLst>
          </p:cNvPr>
          <p:cNvSpPr txBox="1"/>
          <p:nvPr/>
        </p:nvSpPr>
        <p:spPr>
          <a:xfrm>
            <a:off x="765156" y="3059668"/>
            <a:ext cx="47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TOOLS  |  Microsoft Excel  • 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543040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1. 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93316"/>
            <a:ext cx="5430404" cy="269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This analysis evaluates e-commerce sales performance using order, customer, product, category, discount, and order-status data.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objective was to identify revenue trends, understand category performance, evaluate customer and order activity, and identify areas where the business can improve revenue performance and operational efficiency.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3"/>
          <p:cNvSpPr/>
          <p:nvPr/>
        </p:nvSpPr>
        <p:spPr>
          <a:xfrm>
            <a:off x="7462254" y="358299"/>
            <a:ext cx="437385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62254" y="1526004"/>
            <a:ext cx="4373850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11994" y="6451898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464808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2. Key Business KPIs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843507"/>
              </p:ext>
            </p:extLst>
          </p:nvPr>
        </p:nvGraphicFramePr>
        <p:xfrm>
          <a:off x="609584" y="1242516"/>
          <a:ext cx="9028937" cy="4762380"/>
        </p:xfrm>
        <a:graphic>
          <a:graphicData uri="http://schemas.openxmlformats.org/drawingml/2006/table">
            <a:tbl>
              <a:tblPr/>
              <a:tblGrid>
                <a:gridCol w="3972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KPI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kern="10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RESULT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Total Revenue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₹24.04M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Total Orders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1,000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Total Customers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200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Average Order Value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₹24,041.75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Return Rate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7.40%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Cancellation Rate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4.60%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8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Average Discount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8.57%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10543592" y="0"/>
            <a:ext cx="1648103" cy="6858000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2"/>
          <p:cNvSpPr/>
          <p:nvPr/>
        </p:nvSpPr>
        <p:spPr>
          <a:xfrm>
            <a:off x="6629234" y="325747"/>
            <a:ext cx="525766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629234" y="975816"/>
            <a:ext cx="5257668" cy="4598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08125" y="6451898"/>
            <a:ext cx="3835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90526"/>
            <a:ext cx="7515240" cy="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3. Revenue Trend Analysis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0" y="4212867"/>
            <a:ext cx="12191695" cy="264513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2"/>
          <p:cNvSpPr/>
          <p:nvPr/>
        </p:nvSpPr>
        <p:spPr>
          <a:xfrm>
            <a:off x="609585" y="4249582"/>
            <a:ext cx="11353516" cy="50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Key Insight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09585" y="4772084"/>
            <a:ext cx="11353516" cy="50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April recorded the highest monthly revenue at ₹3.62M, while March recorded the lowest at ₹1.54M.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5347517"/>
            <a:ext cx="11353516" cy="528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Business Implication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09585" y="5943307"/>
            <a:ext cx="11353516" cy="711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business should investigate what contributed to the strong performance in April and September and compare those periods with March.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4850" y="5019674"/>
            <a:ext cx="11258251" cy="163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21000"/>
              </a:lnSpc>
              <a:buSzPct val="100000"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97285" y="6042243"/>
            <a:ext cx="736581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1D7B4A-CF47-DFC9-0DD0-970BAC13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859" y="967624"/>
            <a:ext cx="7604405" cy="3078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63895"/>
            <a:ext cx="8123868" cy="55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4. Category Performance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0" y="4441371"/>
            <a:ext cx="12191695" cy="2452844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2"/>
          <p:cNvSpPr/>
          <p:nvPr/>
        </p:nvSpPr>
        <p:spPr>
          <a:xfrm>
            <a:off x="438539" y="4554711"/>
            <a:ext cx="11524562" cy="31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Key Insight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38539" y="5064835"/>
            <a:ext cx="11524562" cy="438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Electronics generated approximately ₹18.38M, representing about 76% of total revenue.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38539" y="5503305"/>
            <a:ext cx="11524562" cy="438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Business Implication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38539" y="5955685"/>
            <a:ext cx="11138611" cy="71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company should closely monitor Electronics because changes in this category could have a significant effect on overall revenue.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97285" y="3384748"/>
            <a:ext cx="7365816" cy="214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21000"/>
              </a:lnSpc>
              <a:buSzPct val="100000"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97285" y="5729208"/>
            <a:ext cx="736581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478857-1368-6786-E625-D18142BB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04" y="930136"/>
            <a:ext cx="8720764" cy="3497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11789"/>
              </p:ext>
            </p:extLst>
          </p:nvPr>
        </p:nvGraphicFramePr>
        <p:xfrm>
          <a:off x="609585" y="3858022"/>
          <a:ext cx="1047726" cy="1587486"/>
        </p:xfrm>
        <a:graphic>
          <a:graphicData uri="http://schemas.openxmlformats.org/drawingml/2006/table">
            <a:tbl>
              <a:tblPr/>
              <a:tblGrid>
                <a:gridCol w="34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8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0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0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0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 0"/>
          <p:cNvSpPr/>
          <p:nvPr/>
        </p:nvSpPr>
        <p:spPr>
          <a:xfrm>
            <a:off x="609585" y="326572"/>
            <a:ext cx="6323060" cy="49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5. Order Status Analysis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0" y="4086809"/>
            <a:ext cx="12191695" cy="277119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6" name="Text 2"/>
          <p:cNvSpPr/>
          <p:nvPr/>
        </p:nvSpPr>
        <p:spPr>
          <a:xfrm>
            <a:off x="609585" y="4320073"/>
            <a:ext cx="11353516" cy="449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Key Insight</a:t>
            </a:r>
            <a:endParaRPr lang="en-US" sz="3200" dirty="0"/>
          </a:p>
        </p:txBody>
      </p:sp>
      <p:sp>
        <p:nvSpPr>
          <p:cNvPr id="4" name="Text 3"/>
          <p:cNvSpPr/>
          <p:nvPr/>
        </p:nvSpPr>
        <p:spPr>
          <a:xfrm>
            <a:off x="609585" y="4870580"/>
            <a:ext cx="11353516" cy="78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majority of orders were successfully delivered, with 88% of orders marked as Delivered.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However, 120 orders were either returned or cancelled.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09585" y="5758791"/>
            <a:ext cx="11353516" cy="38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Business Implication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09585" y="6213714"/>
            <a:ext cx="11353516" cy="513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Reducing avoidable returns and cancellations could improve operational efficiency and customer experience.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97285" y="3891459"/>
            <a:ext cx="7365816" cy="214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21000"/>
              </a:lnSpc>
              <a:buSzPct val="100000"/>
            </a:pP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02E0A0-1843-838D-B48D-48090BEAE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20" y="752004"/>
            <a:ext cx="7055787" cy="3334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7315017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6. Customer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0616"/>
            <a:ext cx="7315017" cy="1758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dataset contains 200 unique customers and 1,000 orders, indicating an average of approximately 5 orders per customer across the analyzed period.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This provides an opportunity to understand customer purchasing behavior and identify high-value customers.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3254089"/>
            <a:ext cx="3428914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Recommended Customer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814391"/>
            <a:ext cx="3428914" cy="141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High-value customers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Frequent customers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Occasional customers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Low-engagement customers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95688" y="3235841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High-value and frequent customers can be targeted with: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95688" y="3986213"/>
            <a:ext cx="3428914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Personalized offers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Loyalty programs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Product recommendations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Early access to promotions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Cross-selling opportunities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9722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7. Discount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0616"/>
            <a:ext cx="10972526" cy="81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average discount across orders was 8.57%.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Discounts can help increase sales, but excessive discounting may reduce the revenue generated per order.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2489608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Recommendation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3142377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Instead of applying broad discounts across all products, the business should evaluate: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646388"/>
            <a:ext cx="10972526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Which products require discounts to generate sales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Whether higher discounts actually increase order volume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generated before and after discounts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Discount performance by category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response to different discount levels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5623838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This can help the business balance sales growth with revenue efficiency.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8. Key Business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480613"/>
            <a:ext cx="7722652" cy="28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Insight 1 — Electronics is the main revenue driver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1807973"/>
            <a:ext cx="7264218" cy="328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Electronics generated ₹18.38M, approximately 76% of total revenue.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307034"/>
            <a:ext cx="9915346" cy="360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Insight 2 — Revenue varies significantly by month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84" y="2600564"/>
            <a:ext cx="7238819" cy="3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April generated ₹3.62M, while March generated only ₹1.54M.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85" y="3002812"/>
            <a:ext cx="10947126" cy="31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Insight 3 — Returns require attention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8780" y="3311384"/>
            <a:ext cx="10972526" cy="59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return rate was 7.40%.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Identify the products and categories contributing most to returns and investigate their underlying causes.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4" y="3998838"/>
            <a:ext cx="9056929" cy="440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Insight 4 — Cancellations represent an improvement opportunity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4298018"/>
            <a:ext cx="11199334" cy="541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cancellation rate was 4.60%.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Analyze cancellation patterns to identify whether pricing, availability, or fulfillment issues are contributing.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4985472"/>
            <a:ext cx="10972526" cy="33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kern="100" spc="-18" dirty="0">
                <a:solidFill>
                  <a:srgbClr val="1B2632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Insight 5 — Discounts should be optimized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5303433"/>
            <a:ext cx="10972526" cy="41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average discount was 8.57%.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Evaluate discount effectiveness instead of relying on discounts uniformly across products.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9. Business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0616"/>
            <a:ext cx="5257668" cy="449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Strengthen Electronics Performance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Since Electronics contributes approximately 76% of revenue, the business should prioritize inventory planning, product availability, and customer retention within this category.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Reduce Product Returns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Analyze returned orders at product and category level to identify recurring issues and take corrective action.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Optimize Discount Strategy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historical sales data to determine which discount levels generate additional demand and avoid unnecessary discounting where customers are likely to purchase without incentives.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24442" y="1280616"/>
            <a:ext cx="5257668" cy="480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Investigate the March Revenue Decline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March had the lowest monthly revenue. Management should compare March with high-performing months to identify differences in product demand, availability, pricing, and marketing activity.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Reduce Avoidable Cancellations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Investigate cancellation reasons and identify whether stock availability, delivery timelines, or pricing are contributing to cancelled orders.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Develop Customer Segmentation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Identify high-value and frequent customers and create targeted retention strategies such as loyalty benefits, personalized recommendations, and relevant offers.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38386" y="6451898"/>
            <a:ext cx="353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1A28B9-EB09-C286-D2F8-2083A1C7AE10}"/>
              </a:ext>
            </a:extLst>
          </p:cNvPr>
          <p:cNvSpPr txBox="1"/>
          <p:nvPr/>
        </p:nvSpPr>
        <p:spPr>
          <a:xfrm>
            <a:off x="1082351" y="695961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Project Conclusion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EE94C-ED5A-3C21-F3FD-ACB4EDD55A27}"/>
              </a:ext>
            </a:extLst>
          </p:cNvPr>
          <p:cNvSpPr txBox="1"/>
          <p:nvPr/>
        </p:nvSpPr>
        <p:spPr>
          <a:xfrm>
            <a:off x="1082351" y="2099388"/>
            <a:ext cx="100863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analysis shows that the business generated ₹24.04M in revenue from 1,000 orders and 200 customers.</a:t>
            </a:r>
          </a:p>
          <a:p>
            <a:r>
              <a:rPr lang="en-US" dirty="0">
                <a:solidFill>
                  <a:schemeClr val="bg1"/>
                </a:solidFill>
              </a:rPr>
              <a:t>The most important finding is the strong contribution of the Electronics category, which generated approximately 76% of total revenue. Revenue also varied considerably across months, with April being the strongest month and March the weakest.</a:t>
            </a:r>
          </a:p>
          <a:p>
            <a:r>
              <a:rPr lang="en-US" dirty="0">
                <a:solidFill>
                  <a:schemeClr val="bg1"/>
                </a:solidFill>
              </a:rPr>
              <a:t>While the majority of orders were successfully delivered, the 7.40% return rate and 4.60% cancellation rate represent areas where further investigation could improve operational efficiency and customer experience.</a:t>
            </a:r>
          </a:p>
          <a:p>
            <a:r>
              <a:rPr lang="en-US" dirty="0">
                <a:solidFill>
                  <a:schemeClr val="bg1"/>
                </a:solidFill>
              </a:rPr>
              <a:t>Overall, the recommended focus areas are protecting Electronics revenue, understanding monthly sales fluctuations, reducing returns and cancellations, optimizing discounts, and strengthening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405856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831</Words>
  <Application>Microsoft Office PowerPoint</Application>
  <PresentationFormat>Widescreen</PresentationFormat>
  <Paragraphs>111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Public Sans</vt:lpstr>
      <vt:lpstr>Public Sans Bold</vt:lpstr>
      <vt:lpstr>Arial</vt:lpstr>
      <vt:lpstr>Sora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Rupashree Chatterjee</cp:lastModifiedBy>
  <cp:revision>7</cp:revision>
  <dcterms:created xsi:type="dcterms:W3CDTF">2026-10-27T04:28:55Z</dcterms:created>
  <dcterms:modified xsi:type="dcterms:W3CDTF">2026-10-27T05:01:12Z</dcterms:modified>
</cp:coreProperties>
</file>